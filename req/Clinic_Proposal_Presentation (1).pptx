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Inter ExtraBold"/>
      <p:bold r:id="rId20"/>
      <p:boldItalic r:id="rId21"/>
    </p:embeddedFont>
    <p:embeddedFont>
      <p:font typeface="Inter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Wn53DowORHs/Ad7bY4XaRB9hw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.fntdata"/><Relationship Id="rId22" Type="http://schemas.openxmlformats.org/officeDocument/2006/relationships/font" Target="fonts/InterMedium-regular.fntdata"/><Relationship Id="rId21" Type="http://schemas.openxmlformats.org/officeDocument/2006/relationships/font" Target="fonts/InterExtraBold-boldItalic.fntdata"/><Relationship Id="rId24" Type="http://schemas.openxmlformats.org/officeDocument/2006/relationships/font" Target="fonts/InterMedium-italic.fntdata"/><Relationship Id="rId23" Type="http://schemas.openxmlformats.org/officeDocument/2006/relationships/font" Target="fonts/InterMediu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Inter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9906000" y="4572000"/>
            <a:ext cx="4572000" cy="4572000"/>
          </a:xfrm>
          <a:prstGeom prst="ellipse">
            <a:avLst/>
          </a:prstGeom>
          <a:solidFill>
            <a:srgbClr val="2DD4B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1381125" y="1666875"/>
            <a:ext cx="1238400" cy="12384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524000" y="1882775"/>
            <a:ext cx="952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medical_services</a:t>
            </a:r>
            <a:endParaRPr sz="50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572000" y="1619250"/>
            <a:ext cx="6858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Clinic Management System</a:t>
            </a:r>
            <a:endParaRPr b="0" sz="5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81000" y="3238500"/>
            <a:ext cx="3238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CLINIC OS</a:t>
            </a:r>
            <a:endParaRPr b="0" sz="24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Next-Gen Care Delivery</a:t>
            </a:r>
            <a:endParaRPr b="0" sz="1300">
              <a:solidFill>
                <a:srgbClr val="2DD4B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4572000" y="4000500"/>
            <a:ext cx="1333500" cy="762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4572000" y="4333875"/>
            <a:ext cx="6858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F766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Proposal Presentation</a:t>
            </a:r>
            <a:endParaRPr b="0" sz="2400">
              <a:solidFill>
                <a:srgbClr val="0F766E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Prepared for the Client</a:t>
            </a:r>
            <a:endParaRPr b="0" sz="15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/>
          <p:nvPr/>
        </p:nvSpPr>
        <p:spPr>
          <a:xfrm>
            <a:off x="9906000" y="4572000"/>
            <a:ext cx="4572000" cy="4572000"/>
          </a:xfrm>
          <a:prstGeom prst="ellipse">
            <a:avLst/>
          </a:prstGeom>
          <a:solidFill>
            <a:srgbClr val="2DD4B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857250" y="571500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1. What We're Building</a:t>
            </a:r>
            <a:endParaRPr b="0" sz="3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857250" y="1381125"/>
            <a:ext cx="952500" cy="573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" name="Google Shape;105;p2"/>
          <p:cNvGrpSpPr/>
          <p:nvPr/>
        </p:nvGrpSpPr>
        <p:grpSpPr>
          <a:xfrm>
            <a:off x="847725" y="1704975"/>
            <a:ext cx="2495700" cy="2019300"/>
            <a:chOff x="-9525" y="-9525"/>
            <a:chExt cx="2495700" cy="2019300"/>
          </a:xfrm>
        </p:grpSpPr>
        <p:pic>
          <p:nvPicPr>
            <p:cNvPr id="106" name="Google Shape;106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24957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2"/>
            <p:cNvSpPr txBox="1"/>
            <p:nvPr/>
          </p:nvSpPr>
          <p:spPr>
            <a:xfrm>
              <a:off x="190500" y="190500"/>
              <a:ext cx="2095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web</a:t>
              </a:r>
              <a:endParaRPr sz="2800">
                <a:solidFill>
                  <a:srgbClr val="0F766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Web-Based System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single integrated system replacing outdated manual registers.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3571875" y="1704975"/>
            <a:ext cx="2495700" cy="2019300"/>
            <a:chOff x="-9525" y="-9525"/>
            <a:chExt cx="2495700" cy="2019300"/>
          </a:xfrm>
        </p:grpSpPr>
        <p:pic>
          <p:nvPicPr>
            <p:cNvPr id="109" name="Google Shape;109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24957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2"/>
            <p:cNvSpPr txBox="1"/>
            <p:nvPr/>
          </p:nvSpPr>
          <p:spPr>
            <a:xfrm>
              <a:off x="190500" y="190500"/>
              <a:ext cx="2095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person_add</a:t>
              </a:r>
              <a:endParaRPr sz="2800">
                <a:solidFill>
                  <a:srgbClr val="0F766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Patient Registration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Seamless patient onboarding and advanced search capabilities.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6296025" y="1704975"/>
            <a:ext cx="2495700" cy="2019300"/>
            <a:chOff x="-9525" y="-9525"/>
            <a:chExt cx="2495700" cy="2019300"/>
          </a:xfrm>
        </p:grpSpPr>
        <p:pic>
          <p:nvPicPr>
            <p:cNvPr id="112" name="Google Shape;112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24957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2"/>
            <p:cNvSpPr txBox="1"/>
            <p:nvPr/>
          </p:nvSpPr>
          <p:spPr>
            <a:xfrm>
              <a:off x="190500" y="190500"/>
              <a:ext cx="2095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confirmation_number</a:t>
              </a:r>
              <a:endParaRPr sz="2800">
                <a:solidFill>
                  <a:srgbClr val="0F766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Token Generation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Efficient doctor slip and digital queue token generation.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9020175" y="1704975"/>
            <a:ext cx="2495700" cy="2019300"/>
            <a:chOff x="-9525" y="-9525"/>
            <a:chExt cx="2495700" cy="2019300"/>
          </a:xfrm>
        </p:grpSpPr>
        <p:pic>
          <p:nvPicPr>
            <p:cNvPr id="115" name="Google Shape;1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24957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2"/>
            <p:cNvSpPr txBox="1"/>
            <p:nvPr/>
          </p:nvSpPr>
          <p:spPr>
            <a:xfrm>
              <a:off x="190500" y="190500"/>
              <a:ext cx="2095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 sz="2800">
                <a:solidFill>
                  <a:srgbClr val="0F766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Billing &amp; Receipts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Integrated billing for Lab, X-Ray, ECG, ECO, and Ultrasound.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847725" y="3952875"/>
            <a:ext cx="2495700" cy="2019300"/>
            <a:chOff x="-9525" y="-9525"/>
            <a:chExt cx="2495700" cy="2019300"/>
          </a:xfrm>
        </p:grpSpPr>
        <p:pic>
          <p:nvPicPr>
            <p:cNvPr id="118" name="Google Shape;118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24957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2"/>
            <p:cNvSpPr txBox="1"/>
            <p:nvPr/>
          </p:nvSpPr>
          <p:spPr>
            <a:xfrm>
              <a:off x="190500" y="190500"/>
              <a:ext cx="2095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meeting_room</a:t>
              </a:r>
              <a:endParaRPr sz="2800">
                <a:solidFill>
                  <a:srgbClr val="0F766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Operation Theater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Streamlined room booking and comprehensive final billing.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3571875" y="3952875"/>
            <a:ext cx="2495700" cy="2019300"/>
            <a:chOff x="-9525" y="-9525"/>
            <a:chExt cx="2495700" cy="2019300"/>
          </a:xfrm>
        </p:grpSpPr>
        <p:pic>
          <p:nvPicPr>
            <p:cNvPr id="121" name="Google Shape;121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24957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2"/>
            <p:cNvSpPr txBox="1"/>
            <p:nvPr/>
          </p:nvSpPr>
          <p:spPr>
            <a:xfrm>
              <a:off x="190500" y="190500"/>
              <a:ext cx="2095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2800">
                <a:solidFill>
                  <a:srgbClr val="0F766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Management Portal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Real-time tracking of cash, clinical performance, and expenses.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296025" y="3952875"/>
            <a:ext cx="2495700" cy="2019300"/>
            <a:chOff x="-9525" y="-9525"/>
            <a:chExt cx="2495700" cy="2019300"/>
          </a:xfrm>
        </p:grpSpPr>
        <p:pic>
          <p:nvPicPr>
            <p:cNvPr id="124" name="Google Shape;124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24957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2"/>
            <p:cNvSpPr txBox="1"/>
            <p:nvPr/>
          </p:nvSpPr>
          <p:spPr>
            <a:xfrm>
              <a:off x="190500" y="190500"/>
              <a:ext cx="2095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endParaRPr sz="2800">
                <a:solidFill>
                  <a:srgbClr val="0F766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Direct Management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Easy configuration of doctors, tests, and standard pricing.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9020175" y="3952875"/>
            <a:ext cx="2495700" cy="2019300"/>
            <a:chOff x="-9525" y="-9525"/>
            <a:chExt cx="2495700" cy="2019300"/>
          </a:xfrm>
        </p:grpSpPr>
        <p:pic>
          <p:nvPicPr>
            <p:cNvPr id="127" name="Google Shape;127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24957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2"/>
            <p:cNvSpPr txBox="1"/>
            <p:nvPr/>
          </p:nvSpPr>
          <p:spPr>
            <a:xfrm>
              <a:off x="190500" y="190500"/>
              <a:ext cx="2095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2800">
                <a:solidFill>
                  <a:srgbClr val="0F766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Secure Logins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Role-based access security for staff and management.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/>
          <p:nvPr/>
        </p:nvSpPr>
        <p:spPr>
          <a:xfrm>
            <a:off x="9906000" y="4572000"/>
            <a:ext cx="4572000" cy="4572000"/>
          </a:xfrm>
          <a:prstGeom prst="ellipse">
            <a:avLst/>
          </a:prstGeom>
          <a:solidFill>
            <a:srgbClr val="2DD4B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" name="Google Shape;135;p3"/>
          <p:cNvGrpSpPr/>
          <p:nvPr/>
        </p:nvGrpSpPr>
        <p:grpSpPr>
          <a:xfrm>
            <a:off x="857250" y="571500"/>
            <a:ext cx="10477500" cy="762000"/>
            <a:chOff x="0" y="0"/>
            <a:chExt cx="10477500" cy="762000"/>
          </a:xfrm>
        </p:grpSpPr>
        <p:sp>
          <p:nvSpPr>
            <p:cNvPr id="136" name="Google Shape;136;p3"/>
            <p:cNvSpPr/>
            <p:nvPr/>
          </p:nvSpPr>
          <p:spPr>
            <a:xfrm>
              <a:off x="0" y="0"/>
              <a:ext cx="1047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0" y="0"/>
              <a:ext cx="104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2. Work &amp; Cost Breakdown</a:t>
              </a:r>
              <a:endParaRPr b="0" sz="3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38" name="Google Shape;138;p3"/>
          <p:cNvSpPr/>
          <p:nvPr/>
        </p:nvSpPr>
        <p:spPr>
          <a:xfrm>
            <a:off x="857250" y="1381125"/>
            <a:ext cx="952500" cy="573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3"/>
          <p:cNvGrpSpPr/>
          <p:nvPr/>
        </p:nvGrpSpPr>
        <p:grpSpPr>
          <a:xfrm>
            <a:off x="857250" y="1905000"/>
            <a:ext cx="4191000" cy="1714500"/>
            <a:chOff x="0" y="0"/>
            <a:chExt cx="4191000" cy="1714500"/>
          </a:xfrm>
        </p:grpSpPr>
        <p:sp>
          <p:nvSpPr>
            <p:cNvPr id="140" name="Google Shape;140;p3"/>
            <p:cNvSpPr/>
            <p:nvPr/>
          </p:nvSpPr>
          <p:spPr>
            <a:xfrm>
              <a:off x="0" y="0"/>
              <a:ext cx="4191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 txBox="1"/>
            <p:nvPr/>
          </p:nvSpPr>
          <p:spPr>
            <a:xfrm>
              <a:off x="285750" y="481203"/>
              <a:ext cx="571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 sz="3600">
                <a:solidFill>
                  <a:srgbClr val="0F766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2" name="Google Shape;142;p3"/>
            <p:cNvSpPr txBox="1"/>
            <p:nvPr/>
          </p:nvSpPr>
          <p:spPr>
            <a:xfrm>
              <a:off x="1047750" y="238125"/>
              <a:ext cx="2857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Total Fixed Price</a:t>
              </a:r>
              <a:endParaRPr b="1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PKR 60,000</a:t>
              </a:r>
              <a:endParaRPr b="0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43" name="Google Shape;143;p3"/>
          <p:cNvGrpSpPr/>
          <p:nvPr/>
        </p:nvGrpSpPr>
        <p:grpSpPr>
          <a:xfrm>
            <a:off x="857250" y="3905250"/>
            <a:ext cx="4191000" cy="1714500"/>
            <a:chOff x="0" y="0"/>
            <a:chExt cx="4191000" cy="1714500"/>
          </a:xfrm>
        </p:grpSpPr>
        <p:sp>
          <p:nvSpPr>
            <p:cNvPr id="144" name="Google Shape;144;p3"/>
            <p:cNvSpPr/>
            <p:nvPr/>
          </p:nvSpPr>
          <p:spPr>
            <a:xfrm>
              <a:off x="0" y="0"/>
              <a:ext cx="4191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 txBox="1"/>
            <p:nvPr/>
          </p:nvSpPr>
          <p:spPr>
            <a:xfrm>
              <a:off x="285750" y="481203"/>
              <a:ext cx="571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schedule</a:t>
              </a:r>
              <a:endParaRPr sz="3600">
                <a:solidFill>
                  <a:srgbClr val="0F766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6" name="Google Shape;146;p3"/>
            <p:cNvSpPr txBox="1"/>
            <p:nvPr/>
          </p:nvSpPr>
          <p:spPr>
            <a:xfrm>
              <a:off x="1047750" y="238125"/>
              <a:ext cx="2857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Total Work Hours</a:t>
              </a:r>
              <a:endParaRPr b="1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300 hrs</a:t>
              </a:r>
              <a:endParaRPr b="0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5524500" y="1905000"/>
            <a:ext cx="5810400" cy="3714900"/>
            <a:chOff x="0" y="0"/>
            <a:chExt cx="5810400" cy="3714900"/>
          </a:xfrm>
        </p:grpSpPr>
        <p:sp>
          <p:nvSpPr>
            <p:cNvPr id="148" name="Google Shape;148;p3"/>
            <p:cNvSpPr/>
            <p:nvPr/>
          </p:nvSpPr>
          <p:spPr>
            <a:xfrm>
              <a:off x="0" y="0"/>
              <a:ext cx="58104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 txBox="1"/>
            <p:nvPr/>
          </p:nvSpPr>
          <p:spPr>
            <a:xfrm>
              <a:off x="381000" y="333375"/>
              <a:ext cx="5048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Key Modules Included</a:t>
              </a:r>
              <a:endParaRPr b="1" sz="13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DD4B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Patient &amp; Doctor Registration</a:t>
              </a:r>
              <a:endParaRPr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DD4B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Billing Counters (Lab, X-Ray, ECG, etc.)</a:t>
              </a:r>
              <a:endParaRPr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DD4B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Operation Theater Module</a:t>
              </a:r>
              <a:endParaRPr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DD4B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Expenses, Salaries &amp; Reports</a:t>
              </a:r>
              <a:endParaRPr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DD4B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Testing, Optimization &amp; Training</a:t>
              </a:r>
              <a:endParaRPr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/>
          <p:nvPr/>
        </p:nvSpPr>
        <p:spPr>
          <a:xfrm>
            <a:off x="9906000" y="4572000"/>
            <a:ext cx="4572000" cy="4572000"/>
          </a:xfrm>
          <a:prstGeom prst="ellipse">
            <a:avLst/>
          </a:prstGeom>
          <a:solidFill>
            <a:srgbClr val="2DD4B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4"/>
          <p:cNvGrpSpPr/>
          <p:nvPr/>
        </p:nvGrpSpPr>
        <p:grpSpPr>
          <a:xfrm>
            <a:off x="857250" y="571500"/>
            <a:ext cx="10477500" cy="762000"/>
            <a:chOff x="0" y="0"/>
            <a:chExt cx="10477500" cy="762000"/>
          </a:xfrm>
        </p:grpSpPr>
        <p:sp>
          <p:nvSpPr>
            <p:cNvPr id="156" name="Google Shape;156;p4"/>
            <p:cNvSpPr/>
            <p:nvPr/>
          </p:nvSpPr>
          <p:spPr>
            <a:xfrm>
              <a:off x="0" y="0"/>
              <a:ext cx="1047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"/>
            <p:cNvSpPr txBox="1"/>
            <p:nvPr/>
          </p:nvSpPr>
          <p:spPr>
            <a:xfrm>
              <a:off x="0" y="0"/>
              <a:ext cx="104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3. Accelerated 2-Week Timeline</a:t>
              </a:r>
              <a:endParaRPr b="0" sz="3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58" name="Google Shape;158;p4"/>
          <p:cNvSpPr/>
          <p:nvPr/>
        </p:nvSpPr>
        <p:spPr>
          <a:xfrm>
            <a:off x="857250" y="1381125"/>
            <a:ext cx="952500" cy="573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" name="Google Shape;159;p4"/>
          <p:cNvGrpSpPr/>
          <p:nvPr/>
        </p:nvGrpSpPr>
        <p:grpSpPr>
          <a:xfrm>
            <a:off x="857250" y="1714500"/>
            <a:ext cx="3619500" cy="2000100"/>
            <a:chOff x="0" y="0"/>
            <a:chExt cx="3619500" cy="2000100"/>
          </a:xfrm>
        </p:grpSpPr>
        <p:sp>
          <p:nvSpPr>
            <p:cNvPr id="160" name="Google Shape;160;p4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4"/>
            <p:cNvSpPr txBox="1"/>
            <p:nvPr/>
          </p:nvSpPr>
          <p:spPr>
            <a:xfrm>
              <a:off x="285750" y="285750"/>
              <a:ext cx="3048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Delivery Speed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14 Days</a:t>
              </a:r>
              <a:endParaRPr b="0" sz="3600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Extremely fast-tracked delivery compared to typical 10-12 weeks.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2" name="Google Shape;162;p4"/>
          <p:cNvGrpSpPr/>
          <p:nvPr/>
        </p:nvGrpSpPr>
        <p:grpSpPr>
          <a:xfrm>
            <a:off x="857250" y="3952875"/>
            <a:ext cx="3619500" cy="1762200"/>
            <a:chOff x="0" y="0"/>
            <a:chExt cx="3619500" cy="1762200"/>
          </a:xfrm>
        </p:grpSpPr>
        <p:sp>
          <p:nvSpPr>
            <p:cNvPr id="163" name="Google Shape;163;p4"/>
            <p:cNvSpPr/>
            <p:nvPr/>
          </p:nvSpPr>
          <p:spPr>
            <a:xfrm>
              <a:off x="0" y="0"/>
              <a:ext cx="36195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285750" y="285750"/>
              <a:ext cx="30480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2800">
                <a:solidFill>
                  <a:srgbClr val="0F766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Requires active parallel work by 3-4 developers and prompt client feedback.</a:t>
              </a:r>
              <a:endParaRPr b="0" sz="11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165" name="Google Shape;16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4100" y="2000250"/>
            <a:ext cx="19200" cy="314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4"/>
          <p:cNvGrpSpPr/>
          <p:nvPr/>
        </p:nvGrpSpPr>
        <p:grpSpPr>
          <a:xfrm>
            <a:off x="5524500" y="1714500"/>
            <a:ext cx="5810400" cy="533400"/>
            <a:chOff x="0" y="0"/>
            <a:chExt cx="5810400" cy="533400"/>
          </a:xfrm>
        </p:grpSpPr>
        <p:sp>
          <p:nvSpPr>
            <p:cNvPr id="167" name="Google Shape;167;p4"/>
            <p:cNvSpPr/>
            <p:nvPr/>
          </p:nvSpPr>
          <p:spPr>
            <a:xfrm>
              <a:off x="0" y="95250"/>
              <a:ext cx="1238400" cy="342900"/>
            </a:xfrm>
            <a:prstGeom prst="roundRect">
              <a:avLst>
                <a:gd fmla="val 50000" name="adj"/>
              </a:avLst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 txBox="1"/>
            <p:nvPr/>
          </p:nvSpPr>
          <p:spPr>
            <a:xfrm>
              <a:off x="0" y="95250"/>
              <a:ext cx="1238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Days 1-2</a:t>
              </a:r>
              <a:endParaRPr b="1" sz="11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1524000" y="0"/>
              <a:ext cx="4286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Setup, UI design &amp; Patient Reg.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0" name="Google Shape;170;p4"/>
          <p:cNvGrpSpPr/>
          <p:nvPr/>
        </p:nvGrpSpPr>
        <p:grpSpPr>
          <a:xfrm>
            <a:off x="5524500" y="2524125"/>
            <a:ext cx="5810400" cy="533400"/>
            <a:chOff x="0" y="0"/>
            <a:chExt cx="5810400" cy="533400"/>
          </a:xfrm>
        </p:grpSpPr>
        <p:sp>
          <p:nvSpPr>
            <p:cNvPr id="171" name="Google Shape;171;p4"/>
            <p:cNvSpPr/>
            <p:nvPr/>
          </p:nvSpPr>
          <p:spPr>
            <a:xfrm>
              <a:off x="0" y="95250"/>
              <a:ext cx="1238400" cy="342900"/>
            </a:xfrm>
            <a:prstGeom prst="roundRect">
              <a:avLst>
                <a:gd fmla="val 50000" name="adj"/>
              </a:avLst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 txBox="1"/>
            <p:nvPr/>
          </p:nvSpPr>
          <p:spPr>
            <a:xfrm>
              <a:off x="0" y="95250"/>
              <a:ext cx="1238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Days 3-5</a:t>
              </a:r>
              <a:endParaRPr b="1" sz="11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1524000" y="0"/>
              <a:ext cx="4286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Doctor Reg &amp; all 5 Billing Counters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4" name="Google Shape;174;p4"/>
          <p:cNvGrpSpPr/>
          <p:nvPr/>
        </p:nvGrpSpPr>
        <p:grpSpPr>
          <a:xfrm>
            <a:off x="5524500" y="3333750"/>
            <a:ext cx="5810400" cy="533400"/>
            <a:chOff x="0" y="0"/>
            <a:chExt cx="5810400" cy="533400"/>
          </a:xfrm>
        </p:grpSpPr>
        <p:sp>
          <p:nvSpPr>
            <p:cNvPr id="175" name="Google Shape;175;p4"/>
            <p:cNvSpPr/>
            <p:nvPr/>
          </p:nvSpPr>
          <p:spPr>
            <a:xfrm>
              <a:off x="0" y="95250"/>
              <a:ext cx="1238400" cy="342900"/>
            </a:xfrm>
            <a:prstGeom prst="roundRect">
              <a:avLst>
                <a:gd fmla="val 50000" name="adj"/>
              </a:avLst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 txBox="1"/>
            <p:nvPr/>
          </p:nvSpPr>
          <p:spPr>
            <a:xfrm>
              <a:off x="0" y="95250"/>
              <a:ext cx="1238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Days 6-9</a:t>
              </a:r>
              <a:endParaRPr b="1" sz="11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7" name="Google Shape;177;p4"/>
            <p:cNvSpPr txBox="1"/>
            <p:nvPr/>
          </p:nvSpPr>
          <p:spPr>
            <a:xfrm>
              <a:off x="1524000" y="0"/>
              <a:ext cx="4286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OT module, Test management &amp; Expenses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8" name="Google Shape;178;p4"/>
          <p:cNvGrpSpPr/>
          <p:nvPr/>
        </p:nvGrpSpPr>
        <p:grpSpPr>
          <a:xfrm>
            <a:off x="5524500" y="4143375"/>
            <a:ext cx="5810400" cy="533400"/>
            <a:chOff x="0" y="0"/>
            <a:chExt cx="5810400" cy="533400"/>
          </a:xfrm>
        </p:grpSpPr>
        <p:sp>
          <p:nvSpPr>
            <p:cNvPr id="179" name="Google Shape;179;p4"/>
            <p:cNvSpPr/>
            <p:nvPr/>
          </p:nvSpPr>
          <p:spPr>
            <a:xfrm>
              <a:off x="0" y="95250"/>
              <a:ext cx="1238400" cy="342900"/>
            </a:xfrm>
            <a:prstGeom prst="roundRect">
              <a:avLst>
                <a:gd fmla="val 50000" name="adj"/>
              </a:avLst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 txBox="1"/>
            <p:nvPr/>
          </p:nvSpPr>
          <p:spPr>
            <a:xfrm>
              <a:off x="0" y="95250"/>
              <a:ext cx="1238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Days 10-12</a:t>
              </a:r>
              <a:endParaRPr b="1" sz="11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1" name="Google Shape;181;p4"/>
            <p:cNvSpPr txBox="1"/>
            <p:nvPr/>
          </p:nvSpPr>
          <p:spPr>
            <a:xfrm>
              <a:off x="1524000" y="0"/>
              <a:ext cx="4286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Dashboard, Optimization &amp; Full Testing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2" name="Google Shape;182;p4"/>
          <p:cNvGrpSpPr/>
          <p:nvPr/>
        </p:nvGrpSpPr>
        <p:grpSpPr>
          <a:xfrm>
            <a:off x="5524500" y="4953000"/>
            <a:ext cx="5810400" cy="533400"/>
            <a:chOff x="0" y="0"/>
            <a:chExt cx="5810400" cy="533400"/>
          </a:xfrm>
        </p:grpSpPr>
        <p:sp>
          <p:nvSpPr>
            <p:cNvPr id="183" name="Google Shape;183;p4"/>
            <p:cNvSpPr/>
            <p:nvPr/>
          </p:nvSpPr>
          <p:spPr>
            <a:xfrm>
              <a:off x="0" y="95250"/>
              <a:ext cx="1238400" cy="342900"/>
            </a:xfrm>
            <a:prstGeom prst="roundRect">
              <a:avLst>
                <a:gd fmla="val 50000" name="adj"/>
              </a:avLst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 txBox="1"/>
            <p:nvPr/>
          </p:nvSpPr>
          <p:spPr>
            <a:xfrm>
              <a:off x="0" y="95250"/>
              <a:ext cx="1238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Days 13-14</a:t>
              </a:r>
              <a:endParaRPr b="1" sz="11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5" name="Google Shape;185;p4"/>
            <p:cNvSpPr txBox="1"/>
            <p:nvPr/>
          </p:nvSpPr>
          <p:spPr>
            <a:xfrm>
              <a:off x="1524000" y="0"/>
              <a:ext cx="4286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Fixes, Training, and Handover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5"/>
          <p:cNvSpPr/>
          <p:nvPr/>
        </p:nvSpPr>
        <p:spPr>
          <a:xfrm>
            <a:off x="9906000" y="4572000"/>
            <a:ext cx="4572000" cy="4572000"/>
          </a:xfrm>
          <a:prstGeom prst="ellipse">
            <a:avLst/>
          </a:prstGeom>
          <a:solidFill>
            <a:srgbClr val="2DD4B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5"/>
          <p:cNvGrpSpPr/>
          <p:nvPr/>
        </p:nvGrpSpPr>
        <p:grpSpPr>
          <a:xfrm>
            <a:off x="857250" y="571500"/>
            <a:ext cx="10477500" cy="762000"/>
            <a:chOff x="0" y="0"/>
            <a:chExt cx="10477500" cy="762000"/>
          </a:xfrm>
        </p:grpSpPr>
        <p:sp>
          <p:nvSpPr>
            <p:cNvPr id="193" name="Google Shape;193;p5"/>
            <p:cNvSpPr/>
            <p:nvPr/>
          </p:nvSpPr>
          <p:spPr>
            <a:xfrm>
              <a:off x="0" y="0"/>
              <a:ext cx="1047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5"/>
            <p:cNvSpPr txBox="1"/>
            <p:nvPr/>
          </p:nvSpPr>
          <p:spPr>
            <a:xfrm>
              <a:off x="0" y="0"/>
              <a:ext cx="104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4. Payment Schedule</a:t>
              </a:r>
              <a:endParaRPr b="0" sz="3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95" name="Google Shape;195;p5"/>
          <p:cNvSpPr/>
          <p:nvPr/>
        </p:nvSpPr>
        <p:spPr>
          <a:xfrm>
            <a:off x="857250" y="1381125"/>
            <a:ext cx="952500" cy="573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" name="Google Shape;196;p5"/>
          <p:cNvGrpSpPr/>
          <p:nvPr/>
        </p:nvGrpSpPr>
        <p:grpSpPr>
          <a:xfrm>
            <a:off x="857250" y="1714500"/>
            <a:ext cx="3619500" cy="1714500"/>
            <a:chOff x="0" y="0"/>
            <a:chExt cx="3619500" cy="1714500"/>
          </a:xfrm>
        </p:grpSpPr>
        <p:sp>
          <p:nvSpPr>
            <p:cNvPr id="197" name="Google Shape;197;p5"/>
            <p:cNvSpPr/>
            <p:nvPr/>
          </p:nvSpPr>
          <p:spPr>
            <a:xfrm>
              <a:off x="0" y="0"/>
              <a:ext cx="36195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8" name="Google Shape;198;p5"/>
            <p:cNvGrpSpPr/>
            <p:nvPr/>
          </p:nvGrpSpPr>
          <p:grpSpPr>
            <a:xfrm>
              <a:off x="285750" y="428625"/>
              <a:ext cx="571500" cy="909978"/>
              <a:chOff x="0" y="0"/>
              <a:chExt cx="571500" cy="909978"/>
            </a:xfrm>
          </p:grpSpPr>
          <p:sp>
            <p:nvSpPr>
              <p:cNvPr id="199" name="Google Shape;199;p5"/>
              <p:cNvSpPr/>
              <p:nvPr/>
            </p:nvSpPr>
            <p:spPr>
              <a:xfrm>
                <a:off x="0" y="0"/>
                <a:ext cx="571500" cy="857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 txBox="1"/>
              <p:nvPr/>
            </p:nvSpPr>
            <p:spPr>
              <a:xfrm>
                <a:off x="0" y="52578"/>
                <a:ext cx="5715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rgbClr val="0F766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payments</a:t>
                </a:r>
                <a:endParaRPr sz="36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201" name="Google Shape;201;p5"/>
            <p:cNvGrpSpPr/>
            <p:nvPr/>
          </p:nvGrpSpPr>
          <p:grpSpPr>
            <a:xfrm>
              <a:off x="1047750" y="238125"/>
              <a:ext cx="2381400" cy="1238400"/>
              <a:chOff x="0" y="0"/>
              <a:chExt cx="2381400" cy="1238400"/>
            </a:xfrm>
          </p:grpSpPr>
          <p:sp>
            <p:nvSpPr>
              <p:cNvPr id="202" name="Google Shape;202;p5"/>
              <p:cNvSpPr/>
              <p:nvPr/>
            </p:nvSpPr>
            <p:spPr>
              <a:xfrm>
                <a:off x="0" y="0"/>
                <a:ext cx="2381400" cy="1238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5"/>
              <p:cNvSpPr txBox="1"/>
              <p:nvPr/>
            </p:nvSpPr>
            <p:spPr>
              <a:xfrm>
                <a:off x="0" y="0"/>
                <a:ext cx="23814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1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Total Project Cost</a:t>
                </a:r>
                <a:endParaRPr b="1" sz="111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296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PKR 60,000</a:t>
                </a:r>
                <a:endParaRPr b="1" sz="111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04" name="Google Shape;204;p5"/>
          <p:cNvGrpSpPr/>
          <p:nvPr/>
        </p:nvGrpSpPr>
        <p:grpSpPr>
          <a:xfrm>
            <a:off x="857250" y="3667125"/>
            <a:ext cx="3619500" cy="2095500"/>
            <a:chOff x="0" y="0"/>
            <a:chExt cx="3619500" cy="2095500"/>
          </a:xfrm>
        </p:grpSpPr>
        <p:sp>
          <p:nvSpPr>
            <p:cNvPr id="205" name="Google Shape;205;p5"/>
            <p:cNvSpPr/>
            <p:nvPr/>
          </p:nvSpPr>
          <p:spPr>
            <a:xfrm>
              <a:off x="0" y="0"/>
              <a:ext cx="3619500" cy="20955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6" name="Google Shape;206;p5"/>
            <p:cNvGrpSpPr/>
            <p:nvPr/>
          </p:nvGrpSpPr>
          <p:grpSpPr>
            <a:xfrm>
              <a:off x="285750" y="285750"/>
              <a:ext cx="3048000" cy="1524000"/>
              <a:chOff x="0" y="0"/>
              <a:chExt cx="3048000" cy="1524000"/>
            </a:xfrm>
          </p:grpSpPr>
          <p:sp>
            <p:nvSpPr>
              <p:cNvPr id="207" name="Google Shape;207;p5"/>
              <p:cNvSpPr/>
              <p:nvPr/>
            </p:nvSpPr>
            <p:spPr>
              <a:xfrm>
                <a:off x="0" y="0"/>
                <a:ext cx="3048000" cy="1524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 txBox="1"/>
              <p:nvPr/>
            </p:nvSpPr>
            <p:spPr>
              <a:xfrm>
                <a:off x="0" y="0"/>
                <a:ext cx="3048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Payment Structure</a:t>
                </a:r>
                <a:endParaRPr b="1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0F766E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Milestone-Based</a:t>
                </a:r>
                <a:endParaRPr b="1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Payments are structured around key deliverables to ensure rapid and transparent project progress.</a:t>
                </a:r>
                <a:endParaRPr b="1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09" name="Google Shape;209;p5"/>
          <p:cNvGrpSpPr/>
          <p:nvPr/>
        </p:nvGrpSpPr>
        <p:grpSpPr>
          <a:xfrm>
            <a:off x="4857750" y="1714500"/>
            <a:ext cx="6477000" cy="1143000"/>
            <a:chOff x="0" y="0"/>
            <a:chExt cx="6477000" cy="1143000"/>
          </a:xfrm>
        </p:grpSpPr>
        <p:sp>
          <p:nvSpPr>
            <p:cNvPr id="210" name="Google Shape;210;p5"/>
            <p:cNvSpPr/>
            <p:nvPr/>
          </p:nvSpPr>
          <p:spPr>
            <a:xfrm>
              <a:off x="0" y="0"/>
              <a:ext cx="64770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285750" y="400050"/>
              <a:ext cx="762000" cy="342900"/>
            </a:xfrm>
            <a:prstGeom prst="roundRect">
              <a:avLst>
                <a:gd fmla="val 50000" name="adj"/>
              </a:avLst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 txBox="1"/>
            <p:nvPr/>
          </p:nvSpPr>
          <p:spPr>
            <a:xfrm>
              <a:off x="285750" y="400050"/>
              <a:ext cx="76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30%</a:t>
              </a:r>
              <a:endParaRPr b="0" sz="1100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213" name="Google Shape;213;p5"/>
            <p:cNvGrpSpPr/>
            <p:nvPr/>
          </p:nvGrpSpPr>
          <p:grpSpPr>
            <a:xfrm>
              <a:off x="1333500" y="190500"/>
              <a:ext cx="4857900" cy="762000"/>
              <a:chOff x="0" y="0"/>
              <a:chExt cx="4857900" cy="762000"/>
            </a:xfrm>
          </p:grpSpPr>
          <p:sp>
            <p:nvSpPr>
              <p:cNvPr id="214" name="Google Shape;214;p5"/>
              <p:cNvSpPr/>
              <p:nvPr/>
            </p:nvSpPr>
            <p:spPr>
              <a:xfrm>
                <a:off x="0" y="0"/>
                <a:ext cx="48579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5"/>
              <p:cNvSpPr txBox="1"/>
              <p:nvPr/>
            </p:nvSpPr>
            <p:spPr>
              <a:xfrm>
                <a:off x="0" y="0"/>
                <a:ext cx="4857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1. Advance (Kick-off)</a:t>
                </a:r>
                <a:endParaRPr b="1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0F766E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PKR 18,000</a:t>
                </a:r>
                <a:endParaRPr b="0" sz="200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</p:grpSp>
      <p:grpSp>
        <p:nvGrpSpPr>
          <p:cNvPr id="216" name="Google Shape;216;p5"/>
          <p:cNvGrpSpPr/>
          <p:nvPr/>
        </p:nvGrpSpPr>
        <p:grpSpPr>
          <a:xfrm>
            <a:off x="4857750" y="3048000"/>
            <a:ext cx="6477000" cy="1285800"/>
            <a:chOff x="0" y="0"/>
            <a:chExt cx="6477000" cy="1285800"/>
          </a:xfrm>
        </p:grpSpPr>
        <p:sp>
          <p:nvSpPr>
            <p:cNvPr id="217" name="Google Shape;217;p5"/>
            <p:cNvSpPr/>
            <p:nvPr/>
          </p:nvSpPr>
          <p:spPr>
            <a:xfrm>
              <a:off x="0" y="0"/>
              <a:ext cx="64770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285750" y="466725"/>
              <a:ext cx="762000" cy="342900"/>
            </a:xfrm>
            <a:prstGeom prst="roundRect">
              <a:avLst>
                <a:gd fmla="val 50000" name="adj"/>
              </a:avLst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5"/>
            <p:cNvSpPr txBox="1"/>
            <p:nvPr/>
          </p:nvSpPr>
          <p:spPr>
            <a:xfrm>
              <a:off x="285750" y="466725"/>
              <a:ext cx="76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40%</a:t>
              </a:r>
              <a:endParaRPr b="0" sz="1100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220" name="Google Shape;220;p5"/>
            <p:cNvGrpSpPr/>
            <p:nvPr/>
          </p:nvGrpSpPr>
          <p:grpSpPr>
            <a:xfrm>
              <a:off x="1333500" y="171450"/>
              <a:ext cx="4857900" cy="952500"/>
              <a:chOff x="0" y="0"/>
              <a:chExt cx="4857900" cy="9525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0" y="0"/>
                <a:ext cx="4857900" cy="952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 txBox="1"/>
              <p:nvPr/>
            </p:nvSpPr>
            <p:spPr>
              <a:xfrm>
                <a:off x="0" y="0"/>
                <a:ext cx="4857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2. Mid-project (Day 7) </a:t>
                </a:r>
                <a:r>
                  <a:rPr b="0" lang="en-US" sz="1200">
                    <a:solidFill>
                      <a:srgbClr val="64748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- PKR 24,000</a:t>
                </a:r>
                <a:endParaRPr b="1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0F766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adjust</a:t>
                </a:r>
                <a:r>
                  <a:rPr b="0" lang="en-US" sz="1100">
                    <a:solidFill>
                      <a:srgbClr val="0F766E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Milestone: Patient Reg, Doctor slip, Billing working.</a:t>
                </a:r>
                <a:endParaRPr b="0" sz="1100">
                  <a:solidFill>
                    <a:srgbClr val="0F766E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223" name="Google Shape;223;p5"/>
          <p:cNvGrpSpPr/>
          <p:nvPr/>
        </p:nvGrpSpPr>
        <p:grpSpPr>
          <a:xfrm>
            <a:off x="4857750" y="4476750"/>
            <a:ext cx="6477000" cy="1285800"/>
            <a:chOff x="0" y="0"/>
            <a:chExt cx="6477000" cy="1285800"/>
          </a:xfrm>
        </p:grpSpPr>
        <p:sp>
          <p:nvSpPr>
            <p:cNvPr id="224" name="Google Shape;224;p5"/>
            <p:cNvSpPr/>
            <p:nvPr/>
          </p:nvSpPr>
          <p:spPr>
            <a:xfrm>
              <a:off x="0" y="0"/>
              <a:ext cx="64770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285750" y="466725"/>
              <a:ext cx="762000" cy="342900"/>
            </a:xfrm>
            <a:prstGeom prst="roundRect">
              <a:avLst>
                <a:gd fmla="val 50000" name="adj"/>
              </a:avLst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 txBox="1"/>
            <p:nvPr/>
          </p:nvSpPr>
          <p:spPr>
            <a:xfrm>
              <a:off x="285750" y="466725"/>
              <a:ext cx="76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30%</a:t>
              </a:r>
              <a:endParaRPr b="0" sz="1100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227" name="Google Shape;227;p5"/>
            <p:cNvGrpSpPr/>
            <p:nvPr/>
          </p:nvGrpSpPr>
          <p:grpSpPr>
            <a:xfrm>
              <a:off x="1333500" y="171450"/>
              <a:ext cx="4857900" cy="952500"/>
              <a:chOff x="0" y="0"/>
              <a:chExt cx="4857900" cy="952500"/>
            </a:xfrm>
          </p:grpSpPr>
          <p:sp>
            <p:nvSpPr>
              <p:cNvPr id="228" name="Google Shape;228;p5"/>
              <p:cNvSpPr/>
              <p:nvPr/>
            </p:nvSpPr>
            <p:spPr>
              <a:xfrm>
                <a:off x="0" y="0"/>
                <a:ext cx="4857900" cy="952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5"/>
              <p:cNvSpPr txBox="1"/>
              <p:nvPr/>
            </p:nvSpPr>
            <p:spPr>
              <a:xfrm>
                <a:off x="0" y="0"/>
                <a:ext cx="4857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3. Final Payment (Day 14) </a:t>
                </a:r>
                <a:r>
                  <a:rPr b="0" lang="en-US" sz="1200">
                    <a:solidFill>
                      <a:srgbClr val="64748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- PKR 18,000</a:t>
                </a:r>
                <a:endParaRPr b="1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0F766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adjust</a:t>
                </a:r>
                <a:r>
                  <a:rPr b="0" lang="en-US" sz="1100">
                    <a:solidFill>
                      <a:srgbClr val="0F766E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Milestone: Completion, testing, handover &amp; training.</a:t>
                </a:r>
                <a:endParaRPr b="0" sz="1100">
                  <a:solidFill>
                    <a:srgbClr val="0F766E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6"/>
          <p:cNvSpPr/>
          <p:nvPr/>
        </p:nvSpPr>
        <p:spPr>
          <a:xfrm>
            <a:off x="9906000" y="4572000"/>
            <a:ext cx="4572000" cy="4572000"/>
          </a:xfrm>
          <a:prstGeom prst="ellipse">
            <a:avLst/>
          </a:prstGeom>
          <a:solidFill>
            <a:srgbClr val="2DD4B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" name="Google Shape;236;p6"/>
          <p:cNvGrpSpPr/>
          <p:nvPr/>
        </p:nvGrpSpPr>
        <p:grpSpPr>
          <a:xfrm>
            <a:off x="857250" y="571500"/>
            <a:ext cx="10477500" cy="762000"/>
            <a:chOff x="0" y="0"/>
            <a:chExt cx="10477500" cy="762000"/>
          </a:xfrm>
        </p:grpSpPr>
        <p:sp>
          <p:nvSpPr>
            <p:cNvPr id="237" name="Google Shape;237;p6"/>
            <p:cNvSpPr/>
            <p:nvPr/>
          </p:nvSpPr>
          <p:spPr>
            <a:xfrm>
              <a:off x="0" y="0"/>
              <a:ext cx="1047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6"/>
            <p:cNvSpPr txBox="1"/>
            <p:nvPr/>
          </p:nvSpPr>
          <p:spPr>
            <a:xfrm>
              <a:off x="0" y="0"/>
              <a:ext cx="104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5. Scope Clarifications</a:t>
              </a:r>
              <a:endParaRPr b="0" sz="3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239" name="Google Shape;239;p6"/>
          <p:cNvSpPr/>
          <p:nvPr/>
        </p:nvSpPr>
        <p:spPr>
          <a:xfrm>
            <a:off x="857250" y="1381125"/>
            <a:ext cx="952500" cy="573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" name="Google Shape;240;p6"/>
          <p:cNvGrpSpPr/>
          <p:nvPr/>
        </p:nvGrpSpPr>
        <p:grpSpPr>
          <a:xfrm>
            <a:off x="857250" y="1714500"/>
            <a:ext cx="4953000" cy="4381500"/>
            <a:chOff x="0" y="0"/>
            <a:chExt cx="4953000" cy="4381500"/>
          </a:xfrm>
        </p:grpSpPr>
        <p:sp>
          <p:nvSpPr>
            <p:cNvPr id="241" name="Google Shape;241;p6"/>
            <p:cNvSpPr/>
            <p:nvPr/>
          </p:nvSpPr>
          <p:spPr>
            <a:xfrm>
              <a:off x="0" y="0"/>
              <a:ext cx="4953000" cy="4381500"/>
            </a:xfrm>
            <a:prstGeom prst="roundRect">
              <a:avLst>
                <a:gd fmla="val 260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6"/>
            <p:cNvSpPr txBox="1"/>
            <p:nvPr/>
          </p:nvSpPr>
          <p:spPr>
            <a:xfrm>
              <a:off x="381000" y="381000"/>
              <a:ext cx="4191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INCLUDED IN PROJECT</a:t>
              </a:r>
              <a:endParaRPr b="1" sz="18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2DD4B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Fully built &amp; tested system </a:t>
              </a:r>
              <a:b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Complete software delivery representing 300 hours of development.</a:t>
              </a:r>
              <a:endParaRPr b="1" sz="13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2DD4B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 Month free maintenance </a:t>
              </a:r>
              <a:b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Post-deployment support including quick bug fixes &amp; stability updates.</a:t>
              </a:r>
              <a:endParaRPr b="1" sz="13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2DD4B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Staff training &amp; user guide </a:t>
              </a:r>
              <a:b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Hands-on guidance for operators and complete documentation.</a:t>
              </a:r>
              <a:endParaRPr b="1" sz="13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3" name="Google Shape;243;p6"/>
          <p:cNvGrpSpPr/>
          <p:nvPr/>
        </p:nvGrpSpPr>
        <p:grpSpPr>
          <a:xfrm>
            <a:off x="6381750" y="1714500"/>
            <a:ext cx="4953000" cy="4381500"/>
            <a:chOff x="0" y="0"/>
            <a:chExt cx="4953000" cy="4381500"/>
          </a:xfrm>
        </p:grpSpPr>
        <p:sp>
          <p:nvSpPr>
            <p:cNvPr id="244" name="Google Shape;244;p6"/>
            <p:cNvSpPr/>
            <p:nvPr/>
          </p:nvSpPr>
          <p:spPr>
            <a:xfrm>
              <a:off x="0" y="0"/>
              <a:ext cx="4953000" cy="4381500"/>
            </a:xfrm>
            <a:prstGeom prst="roundRect">
              <a:avLst>
                <a:gd fmla="val 260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6"/>
            <p:cNvSpPr txBox="1"/>
            <p:nvPr/>
          </p:nvSpPr>
          <p:spPr>
            <a:xfrm>
              <a:off x="381000" y="381000"/>
              <a:ext cx="4191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EXCLUDED / ADDITIONAL</a:t>
              </a:r>
              <a:endParaRPr b="1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r>
                <a:rPr b="0" lang="en-US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Cloud server, domain &amp; SSL </a:t>
              </a:r>
              <a:b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Hosting infrastructure setups are provided and paid directly by client.</a:t>
              </a:r>
              <a:endParaRPr b="1"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r>
                <a:rPr b="0" lang="en-US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Deployment charges </a:t>
              </a:r>
              <a:b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Final deployment setup and server configuration are billed separately.</a:t>
              </a:r>
              <a:endParaRPr b="1"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r>
                <a:rPr b="0" lang="en-US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New features after sign-off </a:t>
              </a:r>
              <a:b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Post-agreement scope changes (e.g., SMS alerts, dedicated mobile app).</a:t>
              </a:r>
              <a:endParaRPr b="1"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/>
          <p:nvPr/>
        </p:nvSpPr>
        <p:spPr>
          <a:xfrm>
            <a:off x="9906000" y="4572000"/>
            <a:ext cx="4572000" cy="4572000"/>
          </a:xfrm>
          <a:prstGeom prst="ellipse">
            <a:avLst/>
          </a:prstGeom>
          <a:solidFill>
            <a:srgbClr val="2DD4BF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7"/>
          <p:cNvGrpSpPr/>
          <p:nvPr/>
        </p:nvGrpSpPr>
        <p:grpSpPr>
          <a:xfrm>
            <a:off x="857250" y="571500"/>
            <a:ext cx="10477500" cy="762000"/>
            <a:chOff x="0" y="0"/>
            <a:chExt cx="10477500" cy="762000"/>
          </a:xfrm>
        </p:grpSpPr>
        <p:sp>
          <p:nvSpPr>
            <p:cNvPr id="253" name="Google Shape;253;p7"/>
            <p:cNvSpPr/>
            <p:nvPr/>
          </p:nvSpPr>
          <p:spPr>
            <a:xfrm>
              <a:off x="0" y="0"/>
              <a:ext cx="1047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7"/>
            <p:cNvSpPr txBox="1"/>
            <p:nvPr/>
          </p:nvSpPr>
          <p:spPr>
            <a:xfrm>
              <a:off x="0" y="0"/>
              <a:ext cx="1047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6. Before We Start</a:t>
              </a:r>
              <a:endParaRPr b="0" sz="3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255" name="Google Shape;255;p7"/>
          <p:cNvSpPr/>
          <p:nvPr/>
        </p:nvSpPr>
        <p:spPr>
          <a:xfrm>
            <a:off x="857250" y="1381125"/>
            <a:ext cx="952500" cy="573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" name="Google Shape;256;p7"/>
          <p:cNvGrpSpPr/>
          <p:nvPr/>
        </p:nvGrpSpPr>
        <p:grpSpPr>
          <a:xfrm>
            <a:off x="857250" y="1714500"/>
            <a:ext cx="5905500" cy="4381500"/>
            <a:chOff x="0" y="0"/>
            <a:chExt cx="5905500" cy="4381500"/>
          </a:xfrm>
        </p:grpSpPr>
        <p:sp>
          <p:nvSpPr>
            <p:cNvPr id="257" name="Google Shape;257;p7"/>
            <p:cNvSpPr/>
            <p:nvPr/>
          </p:nvSpPr>
          <p:spPr>
            <a:xfrm>
              <a:off x="0" y="0"/>
              <a:ext cx="5905500" cy="4381500"/>
            </a:xfrm>
            <a:prstGeom prst="roundRect">
              <a:avLst>
                <a:gd fmla="val 260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7"/>
            <p:cNvSpPr txBox="1"/>
            <p:nvPr/>
          </p:nvSpPr>
          <p:spPr>
            <a:xfrm>
              <a:off x="381000" y="381000"/>
              <a:ext cx="51435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Required Confirmations</a:t>
              </a:r>
              <a:endParaRPr b="1" sz="13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</a:t>
              </a:r>
              <a:endParaRPr sz="14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Payment Methods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Cash only or Card/Bank?</a:t>
              </a:r>
              <a:endParaRPr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print</a:t>
              </a:r>
              <a:endParaRPr sz="14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Printer Type for Receipts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Small receipt printer or standard A4?</a:t>
              </a:r>
              <a:endParaRPr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14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Cloud Server Details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Required credentials/details for deployment and testing.</a:t>
              </a:r>
              <a:endParaRPr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9" name="Google Shape;259;p7"/>
          <p:cNvGrpSpPr/>
          <p:nvPr/>
        </p:nvGrpSpPr>
        <p:grpSpPr>
          <a:xfrm>
            <a:off x="7048500" y="1714500"/>
            <a:ext cx="4286400" cy="4381500"/>
            <a:chOff x="0" y="0"/>
            <a:chExt cx="4286400" cy="4381500"/>
          </a:xfrm>
        </p:grpSpPr>
        <p:sp>
          <p:nvSpPr>
            <p:cNvPr id="260" name="Google Shape;260;p7"/>
            <p:cNvSpPr/>
            <p:nvPr/>
          </p:nvSpPr>
          <p:spPr>
            <a:xfrm>
              <a:off x="0" y="0"/>
              <a:ext cx="4286400" cy="43815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7"/>
            <p:cNvSpPr txBox="1"/>
            <p:nvPr/>
          </p:nvSpPr>
          <p:spPr>
            <a:xfrm>
              <a:off x="381000" y="381000"/>
              <a:ext cx="35244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System Setup Note</a:t>
              </a:r>
              <a:endParaRPr b="1"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cloud_done</a:t>
              </a:r>
              <a:endParaRPr sz="14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Direct Registration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Management registers real data (doctors and prices) inside the system directly.</a:t>
              </a:r>
              <a:endParaRPr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No need to prepare lists in advance</a:t>
              </a:r>
              <a:endParaRPr b="1" sz="11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2026-09-01T18:01:43Z</dcterms:created>
  <dc:creator>Shah Hussain</dc:creator>
</cp:coreProperties>
</file>